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1887200" cy="5486400"/>
          </a:xfrm>
          <a:custGeom>
            <a:avLst/>
            <a:gdLst/>
            <a:ahLst/>
            <a:cxnLst/>
            <a:rect l="l" t="t" r="r" b="b"/>
            <a:pathLst>
              <a:path w="11887200" h="5486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3657600"/>
                </a:lnTo>
                <a:lnTo>
                  <a:pt x="64008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1887200" y="5486400"/>
                </a:lnTo>
                <a:lnTo>
                  <a:pt x="11887200" y="5486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914400"/>
            <a:ext cx="11887200" cy="4572000"/>
          </a:xfrm>
          <a:custGeom>
            <a:avLst/>
            <a:gdLst/>
            <a:ahLst/>
            <a:cxnLst/>
            <a:rect l="l" t="t" r="r" b="b"/>
            <a:pathLst>
              <a:path w="11887200" h="4572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1887200" y="4572000"/>
                </a:lnTo>
                <a:lnTo>
                  <a:pt x="11887200" y="45720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0" y="1828800"/>
            <a:ext cx="11887200" cy="3657600"/>
          </a:xfrm>
          <a:custGeom>
            <a:avLst/>
            <a:gdLst/>
            <a:ahLst/>
            <a:cxnLst/>
            <a:rect l="l" t="t" r="r" b="b"/>
            <a:pathLst>
              <a:path w="11887200" h="36576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8229600" y="27432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1887200" y="3657600"/>
                </a:lnTo>
                <a:lnTo>
                  <a:pt x="11887200" y="36576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1887200" h="1828800">
                <a:moveTo>
                  <a:pt x="0" y="914400"/>
                </a:move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1828800"/>
                </a:lnTo>
                <a:lnTo>
                  <a:pt x="9144000" y="1828800"/>
                </a:lnTo>
                <a:lnTo>
                  <a:pt x="10058400" y="1828800"/>
                </a:lnTo>
                <a:lnTo>
                  <a:pt x="100584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1887200" y="18288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95360" y="2286000"/>
            <a:ext cx="3108960" cy="3108960"/>
          </a:xfrm>
          <a:prstGeom prst="ellipse">
            <a:avLst/>
          </a:prstGeom>
          <a:noFill/>
          <a:ln w="2032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66960" y="3383280"/>
            <a:ext cx="2377440" cy="2377440"/>
          </a:xfrm>
          <a:prstGeom prst="ellipse">
            <a:avLst/>
          </a:prstGeom>
          <a:noFill/>
          <a:ln w="2032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69558" y="1810512"/>
            <a:ext cx="2011680" cy="2011680"/>
          </a:xfrm>
          <a:prstGeom prst="ellipse">
            <a:avLst/>
          </a:prstGeom>
          <a:noFill/>
          <a:ln w="2032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84048"/>
            <a:ext cx="237744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7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" y="2103120"/>
            <a:ext cx="4023360" cy="274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240280"/>
            <a:ext cx="8595360" cy="1463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大变局与韧性领导力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700" b="0" i="0">
                <a:solidFill>
                  <a:srgbClr val="768394"/>
                </a:solidFill>
                <a:latin typeface="Microsoft YaHei"/>
                <a:ea typeface="Microsoft YaHei"/>
                <a:cs typeface="Microsoft YaHei"/>
              </a:rPr>
              <a:t>从个体复原到组织韧性 · 韧性领导力飞轮模型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" y="4224528"/>
            <a:ext cx="4023360" cy="18288"/>
          </a:xfrm>
          <a:prstGeom prst="rect">
            <a:avLst/>
          </a:prstGeom>
          <a:solidFill>
            <a:srgbClr val="E8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407408"/>
            <a:ext cx="822960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面向管理者内训分享 ｜ </a:t>
            </a:r>
            <a:r>
              <a:rPr sz="13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整理 牟帮强 · 2026.09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768394"/>
                </a:solidFill>
                <a:latin typeface="Microsoft YaHei"/>
                <a:ea typeface="Microsoft YaHei"/>
                <a:cs typeface="Microsoft YaHei"/>
              </a:rPr>
              <a:t>内容根据孙晓萌（长江商学院行为心理学教授）公开课程笔记整理 · 认知→模型→拓心界→聚同伴→谋全局→落地</a:t>
            </a:r>
          </a:p>
        </p:txBody>
      </p:sp>
      <p:sp>
        <p:nvSpPr>
          <p:cNvPr id="17" name="Oval 16"/>
          <p:cNvSpPr/>
          <p:nvPr/>
        </p:nvSpPr>
        <p:spPr>
          <a:xfrm>
            <a:off x="10168128" y="6236208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69296" y="6236208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570463" y="6236208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71632" y="6236208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68128" y="6437376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369296" y="6437376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570463" y="6437376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771632" y="6437376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68128" y="6638544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69296" y="6638544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570463" y="6638544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771632" y="6638544"/>
            <a:ext cx="54864" cy="5486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1887200" cy="5486400"/>
          </a:xfrm>
          <a:custGeom>
            <a:avLst/>
            <a:gdLst/>
            <a:ahLst/>
            <a:cxnLst/>
            <a:rect l="l" t="t" r="r" b="b"/>
            <a:pathLst>
              <a:path w="11887200" h="5486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3657600"/>
                </a:lnTo>
                <a:lnTo>
                  <a:pt x="64008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1887200" y="5486400"/>
                </a:lnTo>
                <a:lnTo>
                  <a:pt x="11887200" y="5486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914400"/>
            <a:ext cx="11887200" cy="4572000"/>
          </a:xfrm>
          <a:custGeom>
            <a:avLst/>
            <a:gdLst/>
            <a:ahLst/>
            <a:cxnLst/>
            <a:rect l="l" t="t" r="r" b="b"/>
            <a:pathLst>
              <a:path w="11887200" h="4572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1887200" y="4572000"/>
                </a:lnTo>
                <a:lnTo>
                  <a:pt x="11887200" y="45720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0" y="1828800"/>
            <a:ext cx="11887200" cy="3657600"/>
          </a:xfrm>
          <a:custGeom>
            <a:avLst/>
            <a:gdLst/>
            <a:ahLst/>
            <a:cxnLst/>
            <a:rect l="l" t="t" r="r" b="b"/>
            <a:pathLst>
              <a:path w="11887200" h="36576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8229600" y="27432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1887200" y="3657600"/>
                </a:lnTo>
                <a:lnTo>
                  <a:pt x="11887200" y="36576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1887200" h="1828800">
                <a:moveTo>
                  <a:pt x="0" y="914400"/>
                </a:move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1828800"/>
                </a:lnTo>
                <a:lnTo>
                  <a:pt x="9144000" y="1828800"/>
                </a:lnTo>
                <a:lnTo>
                  <a:pt x="10058400" y="1828800"/>
                </a:lnTo>
                <a:lnTo>
                  <a:pt x="100584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1887200" y="18288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651760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768394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100584" cy="21945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59352" y="1362456"/>
            <a:ext cx="8229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99032"/>
            <a:ext cx="6705295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认知篇 · 认识韧性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01368"/>
            <a:ext cx="6705295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什么是韧性 · 为什么韧性成为全球焦点 · 20万样本三大发现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2243328"/>
            <a:ext cx="100584" cy="21945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9352" y="2170176"/>
            <a:ext cx="8229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06752"/>
            <a:ext cx="6705295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模型篇 · 韧性时钟与飞轮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09088"/>
            <a:ext cx="6705295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情绪韧性×思维韧性 · 觉察·意义·连接 · 焦虑的本质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3051048"/>
            <a:ext cx="100584" cy="21945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59352" y="2977895"/>
            <a:ext cx="8229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14472"/>
            <a:ext cx="6705295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拓心界 · 认知破局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16807"/>
            <a:ext cx="6705295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四象限思维 · 学习放下 · 学-习-思 · 持续性小赢 · 焦虑拆弹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3858768"/>
            <a:ext cx="100584" cy="21945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59352" y="3785616"/>
            <a:ext cx="8229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22192"/>
            <a:ext cx="6705295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聚同伴 · 信任与传导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224528"/>
            <a:ext cx="6705295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连接的韧性 · 信任公式 · 幸福五层 · 自利并利他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4666487"/>
            <a:ext cx="100584" cy="21945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9352" y="4593336"/>
            <a:ext cx="8229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629912"/>
            <a:ext cx="6705295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谋全局 · 组织韧性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032248"/>
            <a:ext cx="6705295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三共原则 · 企业生命周期 · 五大人才共性问题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5474207"/>
            <a:ext cx="100584" cy="21945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59352" y="5401056"/>
            <a:ext cx="82296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437632"/>
            <a:ext cx="6705295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落地篇 · 十大法则与三变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839967"/>
            <a:ext cx="6705295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韧性领导力 A-J · 遇变·预变·驭变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1887200" cy="5486400"/>
          </a:xfrm>
          <a:custGeom>
            <a:avLst/>
            <a:gdLst/>
            <a:ahLst/>
            <a:cxnLst/>
            <a:rect l="l" t="t" r="r" b="b"/>
            <a:pathLst>
              <a:path w="11887200" h="5486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3657600"/>
                </a:lnTo>
                <a:lnTo>
                  <a:pt x="64008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1887200" y="5486400"/>
                </a:lnTo>
                <a:lnTo>
                  <a:pt x="11887200" y="5486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914400"/>
            <a:ext cx="11887200" cy="4572000"/>
          </a:xfrm>
          <a:custGeom>
            <a:avLst/>
            <a:gdLst/>
            <a:ahLst/>
            <a:cxnLst/>
            <a:rect l="l" t="t" r="r" b="b"/>
            <a:pathLst>
              <a:path w="11887200" h="4572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1887200" y="4572000"/>
                </a:lnTo>
                <a:lnTo>
                  <a:pt x="11887200" y="45720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0" y="1828800"/>
            <a:ext cx="11887200" cy="3657600"/>
          </a:xfrm>
          <a:custGeom>
            <a:avLst/>
            <a:gdLst/>
            <a:ahLst/>
            <a:cxnLst/>
            <a:rect l="l" t="t" r="r" b="b"/>
            <a:pathLst>
              <a:path w="11887200" h="36576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8229600" y="27432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1887200" y="3657600"/>
                </a:lnTo>
                <a:lnTo>
                  <a:pt x="11887200" y="36576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1887200" h="1828800">
                <a:moveTo>
                  <a:pt x="0" y="914400"/>
                </a:move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1828800"/>
                </a:lnTo>
                <a:lnTo>
                  <a:pt x="9144000" y="1828800"/>
                </a:lnTo>
                <a:lnTo>
                  <a:pt x="10058400" y="1828800"/>
                </a:lnTo>
                <a:lnTo>
                  <a:pt x="100584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1887200" y="18288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108960" cy="1371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200400"/>
            <a:ext cx="1280160" cy="3657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3429000"/>
            <a:ext cx="877824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认知篇 · 认识韧性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97680"/>
            <a:ext cx="877824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68394"/>
                </a:solidFill>
                <a:latin typeface="Microsoft YaHei"/>
                <a:ea typeface="Microsoft YaHei"/>
                <a:cs typeface="Microsoft YaHei"/>
              </a:rPr>
              <a:t>什么是韧性 · 为什么韧性成为全球焦点 · 20万样本的三大发现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认识韧性：从复原力到领导力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4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一条主线：韧性领导力</a:t>
            </a:r>
            <a:r>
              <a:rPr sz="145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sz="145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从「认知自我、打造韧性」到「影响他人、传导韧性</a:t>
            </a:r>
            <a:r>
              <a:rPr sz="145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266509"/>
            <a:ext cx="3685946" cy="301621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主角是</a:t>
            </a:r>
            <a:r>
              <a:rPr sz="1600" b="1" i="0" dirty="0" smtClean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谁 </a:t>
            </a:r>
            <a:r>
              <a:rPr sz="16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600" b="1" i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讲什么</a:t>
            </a:r>
            <a:endParaRPr sz="16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孙晓萌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长江商学院行为心理学教授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用海量行为学实验，洞察行为背后的心理规律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20余年教学和研究，观察个体如何在团队与组织中变化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本课主线：韧性领导力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韧性飞轮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拓心界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聚同伴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谋全局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研究根基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受访大量企业家与管理者：管理困境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经营困境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还发现一个巨大干扰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孩子的教育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韧性帮助个体与组织「穿越周期、持续成长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韧性不是硬扛，而是一套可践行的系统能力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系列著作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韧性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》(2022)：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如何应对变化，复原·成长·获益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韧性手册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》：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连接理论与实践的桥梁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《韧性²》(2025)：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全新的韧性理论模型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点亮内心宇宙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》(2026)：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青少年与家长的韧性践行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什么是韧性：一字之解与概念演变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5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核心把握：韧性是「柔而固也」——不易破损、能复位、更能弹得更高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韧 · 字源解读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韧 = 韦(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熟皮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) + 刃(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划割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) ——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用利器来回划割而不易破碎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熟皮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动物皮制成皮革后的状态（韧性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《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说文解字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》：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柔而固也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像水一样的生命力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韧在背景中「若隐若现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」，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而非突兀夺目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概念演变 · 三个时代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1950年代 ·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材料工程学：物体变形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移位后恢复原形、原位的能力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1960年代 ·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精神病学与心理学：应对挫折、困境、威胁、重大压力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当今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社会学大范畴：组织韧性、供应链韧性、气候韧性、国家韧性</a:t>
            </a:r>
            <a:endParaRPr sz="1250" b="0" i="0" dirty="0">
              <a:solidFill>
                <a:srgbClr val="3333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韧性 · 层级范畴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心理韧性（个体）：遭遇逆境后的调节与恢复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组织韧性（组织）：预测、准备、应对环境突变以生存发展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社会韧性（大系统）：供应链、气候、国家、社团的整体抗风险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0020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为什么韧性成为全球焦点：一组数据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6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韧性已从「心理健康问题」升级为「全球性经济与社会议题</a:t>
            </a:r>
            <a:r>
              <a:rPr sz="145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1188720"/>
          <a:ext cx="11082528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0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4043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关键数据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对管理的启示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043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世界幸福报告 (2026)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全球负面情绪达历史高位</a:t>
                      </a:r>
                      <a:endParaRPr sz="1200" b="0" i="0" dirty="0">
                        <a:solidFill>
                          <a:srgbClr val="33333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压力、焦虑、悲伤普遍化，年轻人幸福感下滑最明显</a:t>
                      </a:r>
                      <a:endParaRPr sz="1200" b="0" i="0" dirty="0">
                        <a:solidFill>
                          <a:srgbClr val="33333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043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全球人口总数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82 亿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心理问题基数庞大，且仍在增大</a:t>
                      </a:r>
                      <a:endParaRPr sz="1200" b="0" i="0" dirty="0">
                        <a:solidFill>
                          <a:srgbClr val="33333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043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正面临心理挑战的人口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10 亿（近 1/8）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全球1/8人口经历精神/心理障碍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043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受影响的在岗人群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15%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精神障碍直接影响工作表现与产出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043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焦虑+抑郁年损失 (WHO)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120 亿个工作日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折合经济损失超过 1 万亿美元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4046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国内趋势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焦虑/抑郁倾向明显，疫情后持续攀升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年轻人尤甚，须引起组织层面关注</a:t>
                      </a:r>
                      <a:endParaRPr sz="1200" b="0" i="0" dirty="0">
                        <a:solidFill>
                          <a:srgbClr val="33333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三重困境：每个管理者绕不开的「变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7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关键在于接纳与调控情绪，而非对抗「不可掌控」的现实</a:t>
            </a:r>
            <a:endParaRPr sz="145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1188720"/>
            <a:ext cx="11057839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1188720"/>
            <a:ext cx="64008" cy="107899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1261872"/>
            <a:ext cx="11057839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第一重  </a:t>
            </a:r>
            <a:r>
              <a:rPr sz="15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自我困境（认知负债 + 情绪负债）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1645920"/>
            <a:ext cx="10646359" cy="5760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与自己的相处；与身边人、家庭、员工、团队、客户的互动，都会反噬到自我状态。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377439"/>
            <a:ext cx="11057839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2377439"/>
            <a:ext cx="64008" cy="1078992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2450591"/>
            <a:ext cx="11057839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498DB"/>
                </a:solidFill>
                <a:latin typeface="Microsoft YaHei"/>
                <a:ea typeface="Microsoft YaHei"/>
                <a:cs typeface="Microsoft YaHei"/>
              </a:rPr>
              <a:t>第二重  </a:t>
            </a:r>
            <a:r>
              <a:rPr sz="15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管理困境（带不动 · 关系负债 · 信任断裂）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834639"/>
            <a:ext cx="10646359" cy="5760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团队带不动、关系有负债、信任出现断裂——管理者被自我的困境之外夹住。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566159"/>
            <a:ext cx="11057839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566159"/>
            <a:ext cx="64008" cy="10789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639311"/>
            <a:ext cx="11057839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第三重  </a:t>
            </a:r>
            <a:r>
              <a:rPr sz="15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经营困境（意义空洞 · 短期主义）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023359"/>
            <a:ext cx="10646359" cy="5760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意义的空洞与短期主义并存；三重困境叠加，焦虑会被成倍放大。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63440"/>
            <a:ext cx="10728655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754879"/>
            <a:ext cx="10362895" cy="10241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 err="1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变字的秘密</a:t>
            </a: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 ｜ 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变 = </a:t>
            </a:r>
            <a:r>
              <a:rPr sz="11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两个纟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1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言（面对面立下誓言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）+ </a:t>
            </a:r>
            <a:r>
              <a:rPr sz="11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立（扑·击碎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）。</a:t>
            </a:r>
            <a:r>
              <a:rPr sz="11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把「心守誓言→恋」换成「击碎誓言→变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」。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人性本质：渴望「掌控感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」。</a:t>
            </a:r>
            <a:r>
              <a:rPr sz="11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焦虑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sz="11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对未来不可预测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1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不可掌控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sz="11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失控。适度焦虑是惊喜（盲盒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1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一旦不可掌控就升级为惊悚</a:t>
            </a:r>
            <a:r>
              <a:rPr sz="11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1887200" cy="5486400"/>
          </a:xfrm>
          <a:custGeom>
            <a:avLst/>
            <a:gdLst/>
            <a:ahLst/>
            <a:cxnLst/>
            <a:rect l="l" t="t" r="r" b="b"/>
            <a:pathLst>
              <a:path w="11887200" h="5486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3657600"/>
                </a:lnTo>
                <a:lnTo>
                  <a:pt x="64008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1887200" y="5486400"/>
                </a:lnTo>
                <a:lnTo>
                  <a:pt x="11887200" y="5486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914400"/>
            <a:ext cx="11887200" cy="4572000"/>
          </a:xfrm>
          <a:custGeom>
            <a:avLst/>
            <a:gdLst/>
            <a:ahLst/>
            <a:cxnLst/>
            <a:rect l="l" t="t" r="r" b="b"/>
            <a:pathLst>
              <a:path w="11887200" h="4572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1887200" y="4572000"/>
                </a:lnTo>
                <a:lnTo>
                  <a:pt x="11887200" y="45720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0" y="1828800"/>
            <a:ext cx="11887200" cy="3657600"/>
          </a:xfrm>
          <a:custGeom>
            <a:avLst/>
            <a:gdLst/>
            <a:ahLst/>
            <a:cxnLst/>
            <a:rect l="l" t="t" r="r" b="b"/>
            <a:pathLst>
              <a:path w="11887200" h="36576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8229600" y="27432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1887200" y="3657600"/>
                </a:lnTo>
                <a:lnTo>
                  <a:pt x="11887200" y="36576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1887200" h="1828800">
                <a:moveTo>
                  <a:pt x="0" y="914400"/>
                </a:move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1828800"/>
                </a:lnTo>
                <a:lnTo>
                  <a:pt x="9144000" y="1828800"/>
                </a:lnTo>
                <a:lnTo>
                  <a:pt x="10058400" y="1828800"/>
                </a:lnTo>
                <a:lnTo>
                  <a:pt x="100584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1887200" y="18288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108960" cy="1371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200400"/>
            <a:ext cx="1280160" cy="3657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3429000"/>
            <a:ext cx="877824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模型篇 · 韧性时钟与飞轮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97680"/>
            <a:ext cx="877824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68394"/>
                </a:solidFill>
                <a:latin typeface="Microsoft YaHei"/>
                <a:ea typeface="Microsoft YaHei"/>
                <a:cs typeface="Microsoft YaHei"/>
              </a:rPr>
              <a:t>情绪韧性×思维韧性 · 觉察·意义·连接 · 焦虑的本质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1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韧性时钟：情绪韧性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×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思维韧性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9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韧性² = 情绪韧性 × 思维韧性（乘数效应）——两者缺一不可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234440"/>
            <a:ext cx="5349240" cy="4754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分针 = 情绪韧性（快）：每天与环境的压力与反应。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时针 = 思维韧性（慢）：我为何有这情绪、如何诠释世界、为何成为现在的我。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韧性² = 情绪 × 思维 —— 相乘而非相加，缺一不可。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乘数效应条件：两维度都 ≥ 2，且一个更大（2×3＞2+3；1×2＜1+2）。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「度」是边界：导致焦虑与缓解焦虑的，往往是同一件事，取决于度。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分针+时针配速 = 心理 GPS；一旦错频，就会慌、会迷失方向。</a:t>
            </a:r>
          </a:p>
        </p:txBody>
      </p:sp>
      <p:sp>
        <p:nvSpPr>
          <p:cNvPr id="14" name="Oval 13"/>
          <p:cNvSpPr/>
          <p:nvPr/>
        </p:nvSpPr>
        <p:spPr>
          <a:xfrm>
            <a:off x="8287207" y="2560320"/>
            <a:ext cx="2011680" cy="2011680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韧性²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情绪×思维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293047" y="1737360"/>
            <a:ext cx="0" cy="1828801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607247" y="998294"/>
            <a:ext cx="1371600" cy="137160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情绪韧性
分针·快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9293047" y="3001030"/>
            <a:ext cx="1739292" cy="565131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346539" y="2315230"/>
            <a:ext cx="1371600" cy="1371600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思维韧性
时针·慢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93047" y="3566161"/>
            <a:ext cx="1074941" cy="1479530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682188" y="4359891"/>
            <a:ext cx="1371600" cy="13716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觉察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218105" y="3566161"/>
            <a:ext cx="1074942" cy="1479530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32305" y="4359891"/>
            <a:ext cx="1371600" cy="13716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意义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7553754" y="3001030"/>
            <a:ext cx="1739293" cy="565131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867954" y="2315230"/>
            <a:ext cx="1371600" cy="1371600"/>
          </a:xfrm>
          <a:prstGeom prst="ellipse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32120"/>
            <a:ext cx="1051560" cy="365760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5532120"/>
            <a:ext cx="1051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情绪韧性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37943" y="5532120"/>
            <a:ext cx="1051560" cy="365760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37943" y="5532120"/>
            <a:ext cx="1051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思维韧性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5532120"/>
            <a:ext cx="1051560" cy="365760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17520" y="5532120"/>
            <a:ext cx="1051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乘数效应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97096" y="5532120"/>
            <a:ext cx="1051560" cy="365760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97096" y="5532120"/>
            <a:ext cx="1051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心理 GPS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76672" y="5532120"/>
            <a:ext cx="1051560" cy="365760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76672" y="5532120"/>
            <a:ext cx="105156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1320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韧性飞轮：觉察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意义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连接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10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三个齿轮咬合转动，为「情绪×思维」两根针提供长久续航的动力</a:t>
            </a:r>
          </a:p>
        </p:txBody>
      </p:sp>
      <p:sp>
        <p:nvSpPr>
          <p:cNvPr id="13" name="Oval 12"/>
          <p:cNvSpPr/>
          <p:nvPr/>
        </p:nvSpPr>
        <p:spPr>
          <a:xfrm>
            <a:off x="1420481" y="2530602"/>
            <a:ext cx="2011680" cy="2011680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韧性飞轮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咬合·转动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468880" y="1280160"/>
            <a:ext cx="0" cy="1600200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740521" y="1250442"/>
            <a:ext cx="1371600" cy="13716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觉察</a:t>
            </a:r>
            <a:r>
              <a:rPr sz="125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
</a:t>
            </a:r>
            <a:r>
              <a:rPr sz="1250" b="1" i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我×自己</a:t>
            </a:r>
            <a:endParaRPr sz="125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6" name="Connector 15"/>
          <p:cNvCxnSpPr/>
          <p:nvPr/>
        </p:nvCxnSpPr>
        <p:spPr>
          <a:xfrm flipH="1">
            <a:off x="2426321" y="2880360"/>
            <a:ext cx="42559" cy="656083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126334" y="3650742"/>
            <a:ext cx="1371600" cy="1371600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意义</a:t>
            </a:r>
            <a:r>
              <a:rPr sz="125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
</a:t>
            </a:r>
            <a:r>
              <a:rPr sz="1250" b="1" i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我×世界</a:t>
            </a:r>
            <a:endParaRPr sz="125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8" name="Connector 17"/>
          <p:cNvCxnSpPr/>
          <p:nvPr/>
        </p:nvCxnSpPr>
        <p:spPr>
          <a:xfrm flipH="1">
            <a:off x="1040507" y="3536443"/>
            <a:ext cx="1385814" cy="800099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54707" y="3650742"/>
            <a:ext cx="1371600" cy="137160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
催化剂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1234440"/>
            <a:ext cx="1920240" cy="4754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46320" y="1207008"/>
            <a:ext cx="2360066" cy="4206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1207008"/>
            <a:ext cx="2360066" cy="42062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觉察 · 我与自己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682496"/>
            <a:ext cx="2360066" cy="4206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我现在的情绪到底是什么？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如何开启情绪与思维的对话？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组织层面 → 共识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6386" y="1207008"/>
            <a:ext cx="2360066" cy="42062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6386" y="1207008"/>
            <a:ext cx="2360066" cy="42062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意义 · 我与世界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6386" y="1682496"/>
            <a:ext cx="2360066" cy="4206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我如何诠释这个世界？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有没有长远的使命感与信念感？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在混乱中依然坚定前行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组织层面 → 共事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66452" y="1207008"/>
            <a:ext cx="2360066" cy="420624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66452" y="1207008"/>
            <a:ext cx="2360066" cy="42062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 · 催化剂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6452" y="1682496"/>
            <a:ext cx="2360066" cy="4206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社会性动物，渴望在集体中发挥更大作用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让觉察与意义在更大的群体中续航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为内在系统提供长久承托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组织层面 → 共情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韧性的衡量：复原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×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成长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×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获益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11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多半人卡在「成长」——没有反思就不会有成长，更不可能获益、弹得更高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没有韧性 · 破蛋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遇到困难一摔就坠落，完全破碎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连复原的可能性都没有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缺乏韧性的基础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对应：从0开始的丧失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solidFill>
            <a:srgbClr val="76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伪韧性 · 纸团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被丢在地上不会碎，但不主动弹起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没有外力就不会自己恢复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表面平静、内心劲没过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对应：虚假的平静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真韧性 · 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受外力坠落，仍能弹起、甚至更高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复原 × 成长 × 获益 三连乘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从事件中获经验、能反思、能成长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对应：真正穿越周期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51320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引发焦虑的三大思维模式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12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三合一焦虑度最高；第一位永远是「无法忍受不确定性」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无法忍受不确定性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希望 100% 掌控，追求掌控感的执念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过度计划 → 列表P：事事精确到表格/时间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表列出太多还要再列表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一个意外打乱整盘计划 → 失控感升级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与「焦虑 = 不可预测+不可掌控」最契合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完美主义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想做到极致，却与实际差距越来越大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伴随拖延症：既不是时间/精力问题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本质是「情绪管理问题」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拖延不喜欢的、或让人失控的事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依赖 DDL → 离完美计划更远 → 焦虑倍增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过度负责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关心别人比关心自己还多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大白话：手太长，管了不该管的事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替孩子完成、替下属完成本该他们做的事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管理者/父母都易犯的越界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最易被人忽略的第三个诱因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1887200" cy="5486400"/>
          </a:xfrm>
          <a:custGeom>
            <a:avLst/>
            <a:gdLst/>
            <a:ahLst/>
            <a:cxnLst/>
            <a:rect l="l" t="t" r="r" b="b"/>
            <a:pathLst>
              <a:path w="11887200" h="5486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3657600"/>
                </a:lnTo>
                <a:lnTo>
                  <a:pt x="64008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1887200" y="5486400"/>
                </a:lnTo>
                <a:lnTo>
                  <a:pt x="11887200" y="5486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914400"/>
            <a:ext cx="11887200" cy="4572000"/>
          </a:xfrm>
          <a:custGeom>
            <a:avLst/>
            <a:gdLst/>
            <a:ahLst/>
            <a:cxnLst/>
            <a:rect l="l" t="t" r="r" b="b"/>
            <a:pathLst>
              <a:path w="11887200" h="4572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1887200" y="4572000"/>
                </a:lnTo>
                <a:lnTo>
                  <a:pt x="11887200" y="45720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0" y="1828800"/>
            <a:ext cx="11887200" cy="3657600"/>
          </a:xfrm>
          <a:custGeom>
            <a:avLst/>
            <a:gdLst/>
            <a:ahLst/>
            <a:cxnLst/>
            <a:rect l="l" t="t" r="r" b="b"/>
            <a:pathLst>
              <a:path w="11887200" h="36576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8229600" y="27432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1887200" y="3657600"/>
                </a:lnTo>
                <a:lnTo>
                  <a:pt x="11887200" y="36576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1887200" h="1828800">
                <a:moveTo>
                  <a:pt x="0" y="914400"/>
                </a:move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1828800"/>
                </a:lnTo>
                <a:lnTo>
                  <a:pt x="9144000" y="1828800"/>
                </a:lnTo>
                <a:lnTo>
                  <a:pt x="10058400" y="1828800"/>
                </a:lnTo>
                <a:lnTo>
                  <a:pt x="100584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1887200" y="18288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108960" cy="1371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200400"/>
            <a:ext cx="1280160" cy="3657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3429000"/>
            <a:ext cx="877824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拓心界 · 认知破局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97680"/>
            <a:ext cx="877824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68394"/>
                </a:solidFill>
                <a:latin typeface="Microsoft YaHei"/>
                <a:ea typeface="Microsoft YaHei"/>
                <a:cs typeface="Microsoft YaHei"/>
              </a:rPr>
              <a:t>四象限思维 · 学习放下 · 学-习-思 · 持续性小赢 · 焦虑拆弹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7072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认知四象限：看见「未知的已知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14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最危险的是「隐性错知」——以为自己知道，但其实是错的（21天习惯、温水煮青蛙）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207008"/>
            <a:ext cx="5440680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1207008"/>
            <a:ext cx="5440680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1207008"/>
            <a:ext cx="516636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已知的已知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1664208"/>
            <a:ext cx="5074920" cy="160934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显性真知：成熟、可复用的认知与能力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显性滞知：已过时、需迭代更新的经验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1207008"/>
            <a:ext cx="5440680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0488" y="1207008"/>
            <a:ext cx="5440680" cy="384048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1207008"/>
            <a:ext cx="516636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已知的未知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664208"/>
            <a:ext cx="5074920" cy="160934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目标未知：有目的去学习（如 AI 新方法）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默许未知：明知新东西但先选择不学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529584"/>
            <a:ext cx="5440680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529584"/>
            <a:ext cx="5440680" cy="384048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529584"/>
            <a:ext cx="516636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未知的未知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986784"/>
            <a:ext cx="5074920" cy="160934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金矿未知：未来的新机会、新赛道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风险未知：可能的黑天鹅、潜在危机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529584"/>
            <a:ext cx="5440680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3529584"/>
            <a:ext cx="5440680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3529584"/>
            <a:ext cx="516636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未知的已知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986784"/>
            <a:ext cx="5074920" cy="160934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隐性真知：其实知道，只是没意识到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隐性错知：以为知道其实错——最危险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打开视界：学习放下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放下学习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15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两句话：质疑一切（包括质疑本身）；独立思考而非独自思考（独改不如众改）。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什么是「视界」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视界 ≠ 世界：它是物理学的黑洞边界（认知边界）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站得高看得远，山脚与山顶看到的模样不同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代表见识、远见，决定我们如何诠释世界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扩展视界要长期做、用好「认知望远镜」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学习放下 · 放下学习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放下学习：拥抱非标准化学习（科技时代不必坐屋檐下）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学习放下：放下偏见与思维定式，松开对已知的执念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学字本意：子（儿童）+ 宝盖 + 双手持爻 → 标准化学习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两类学习一起做，才能打开心界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两个经典反例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「21 天养成习惯」：行为科学实为 100 天起步（故事≠事实）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温水煮青蛙：真实实验是烫水里瞬间烫伤逃不出；温水中反而能跳出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故事听多 → 神经闭环 → 把故事当成事实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所以要「质疑一切 ＋ 独立思考」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41910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学 - 习 - 思闭环：智慧靠悟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16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因变而学 → 因学而通 → 因通而韧 → 因韧而智——拥抱变化，智慧自然生长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371600"/>
            <a:ext cx="3478682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94944" y="1481328"/>
            <a:ext cx="329184" cy="32918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828800"/>
            <a:ext cx="329580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学（被动输入）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40280"/>
            <a:ext cx="331409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由外向内：我讲你听，接收知识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3042" y="1874519"/>
            <a:ext cx="256032" cy="365760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56506" y="1371600"/>
            <a:ext cx="3478682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484522" y="1481328"/>
            <a:ext cx="329184" cy="32918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7946" y="1828800"/>
            <a:ext cx="329580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习（主动实践）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8802" y="2240280"/>
            <a:ext cx="331409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由内向外：小鸟振翅试飞，动手去做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62620" y="1874519"/>
            <a:ext cx="256032" cy="365760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46084" y="1371600"/>
            <a:ext cx="3478682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74100" y="1481328"/>
            <a:ext cx="329184" cy="32918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7524" y="1828800"/>
            <a:ext cx="3295802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思（再反思）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8380" y="2240280"/>
            <a:ext cx="331409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对经历再反思，跳出经历获得经验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703320"/>
            <a:ext cx="11057839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知识可以被传授，方法可以被习得；</a:t>
            </a:r>
            <a:r>
              <a:rPr sz="13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智慧只能靠「悟」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了解 ≠ 学会：光学不做等于没学，光知不做等于不知——必须进入「践行」状态。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800600"/>
            <a:ext cx="1600200" cy="402336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800600"/>
            <a:ext cx="160020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因变而学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04872" y="4800600"/>
            <a:ext cx="1600200" cy="402336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04872" y="4800600"/>
            <a:ext cx="160020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因学而通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51376" y="4800600"/>
            <a:ext cx="1600200" cy="402336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51376" y="4800600"/>
            <a:ext cx="160020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因通而韧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97880" y="4800600"/>
            <a:ext cx="1600200" cy="402336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97880" y="4800600"/>
            <a:ext cx="160020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因韧而智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44383" y="4800600"/>
            <a:ext cx="1600200" cy="402336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44383" y="4800600"/>
            <a:ext cx="160020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拥抱变化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90888" y="4800600"/>
            <a:ext cx="1600200" cy="402336"/>
          </a:xfrm>
          <a:prstGeom prst="round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90888" y="4800600"/>
            <a:ext cx="160020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持续践行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持续性小赢：让改变真正发生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17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高频的小赢 → 持之以恒的幸福感；目标放「B象限（重要不紧迫）」建立先发优势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大成就 · 即时满足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大脑渴望里程碑，以为大成就=幸福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但一切成就感都属「即时满足」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一旦拥有，立刻贬值、无法持久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容易「只有意愿、没有行动」的断裂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持续性小赢 · 边际效益聚合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一个又一个高频率的小胜利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每天改变一点点 → 一年 38 倍效应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与「复利」同源，但更强的即时感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让大脑不断尝到达标的快乐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象限 · 重要不紧迫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 重且急 / B 重不急 / C 急不重要 / D 都不急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把时间精力放到 B 象限 → 拥有先发优势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为危机、突变储备抗挫折能力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用「小赢打卡表」× 视觉化 撬动行为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4017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焦虑拆弹法：把事实与想象分开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18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情绪源于想法——感受和行为（C）不是因事件（A），而是因我们对事件的解释（B）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325880"/>
            <a:ext cx="1583893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94944" y="1435607"/>
            <a:ext cx="329184" cy="32918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783080"/>
            <a:ext cx="1401013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写下客观事件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194560"/>
            <a:ext cx="1419301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今天遇到了什么，使我焦虑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78253" y="1828800"/>
            <a:ext cx="256032" cy="365760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461717" y="1325880"/>
            <a:ext cx="1583893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589733" y="1435607"/>
            <a:ext cx="329184" cy="32918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53157" y="1783080"/>
            <a:ext cx="1401013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我担心发生什么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013" y="2194560"/>
            <a:ext cx="1419301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对应不可预测的部分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073042" y="1828800"/>
            <a:ext cx="256032" cy="365760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56506" y="1325880"/>
            <a:ext cx="1583893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84522" y="1435607"/>
            <a:ext cx="329184" cy="32918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7946" y="1783080"/>
            <a:ext cx="1401013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最坏结果是什么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8802" y="2194560"/>
            <a:ext cx="1419301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对应不可预测且不可掌控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67831" y="1828800"/>
            <a:ext cx="256032" cy="365760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51295" y="1325880"/>
            <a:ext cx="1583893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79311" y="1435607"/>
            <a:ext cx="329184" cy="32918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2735" y="1783080"/>
            <a:ext cx="1401013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把事实与想象分开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3591" y="2194560"/>
            <a:ext cx="1419301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别陷进「脑补」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862620" y="1828800"/>
            <a:ext cx="256032" cy="365760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146084" y="1325880"/>
            <a:ext cx="1583893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74100" y="1435607"/>
            <a:ext cx="329184" cy="32918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7524" y="1783080"/>
            <a:ext cx="1401013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写下行动方案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8380" y="2194560"/>
            <a:ext cx="1419301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提升掌控感，稳住情绪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757410" y="1828800"/>
            <a:ext cx="256032" cy="365760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040874" y="1325880"/>
            <a:ext cx="1583893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168890" y="1435607"/>
            <a:ext cx="329184" cy="329184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2314" y="1783080"/>
            <a:ext cx="1401013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接纳情绪 → 找亮点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3170" y="2194560"/>
            <a:ext cx="1419301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让理智重新浮现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886200"/>
            <a:ext cx="11057839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六字大法：</a:t>
            </a:r>
            <a:r>
              <a:rPr sz="13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情绪源于想法。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我们用什么方式诠释事件，就产生什么情绪。事件 + 情绪 = 事情，永远无法只论事件。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937760"/>
            <a:ext cx="1691640" cy="402336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4937760"/>
            <a:ext cx="169164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接受力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96312" y="4937760"/>
            <a:ext cx="1691640" cy="402336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496312" y="4937760"/>
            <a:ext cx="169164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随机应变力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6" y="4937760"/>
            <a:ext cx="1691640" cy="402336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34256" y="4937760"/>
            <a:ext cx="169164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长远信念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4937760"/>
            <a:ext cx="1691640" cy="402336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72200" y="4937760"/>
            <a:ext cx="169164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亮点哲学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10144" y="4937760"/>
            <a:ext cx="1691640" cy="402336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10144" y="4937760"/>
            <a:ext cx="1691640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记录美好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41733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掌控感分层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思维牢笼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19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能改变的不作为、不能掌控的不放手——两大致命错误，正是失控感的来源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5528919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5528919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两个致命错误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19072"/>
            <a:ext cx="5528919" cy="2103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不能掌控的：不放手 → 较劲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能改变的：却不作为 → 怨天尤人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结果都是失控感、焦虑升级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掌控感永远分层：分清可控与不可控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1188720"/>
            <a:ext cx="5528919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5847" y="1188720"/>
            <a:ext cx="5528919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正确姿势 · 接受力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1719072"/>
            <a:ext cx="5528919" cy="21031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允许不好的事发生：我允许我今天不开心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允许团队起伏、人员变化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强大的接受力 = 高韧性第一特点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在可控部分行动，在不可控部分接纳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977639"/>
            <a:ext cx="110578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3977639"/>
            <a:ext cx="64008" cy="141732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4087368"/>
            <a:ext cx="10692079" cy="12344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思维牢笼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笼子两边的「开口」其实是开着的——我们习惯性地把自己关进去，却对可行的解决方案视而不见。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一旦写下行动方案、掌控感提升，情绪会快速被控制住；接纳了情绪，理智就会凸显出来。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亮点哲学：激活感知幸福的意识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20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打造韧性的根本：保持用积极眼光看待事物，并心存感激——关键在于「保持」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亮点哲学 · 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以天为单位记录 2-3 件幸福时刻，喂养正向认知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用记录影响大脑对世界的诠释：正向≈3:1 再平衡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曾国藩：一事有恒则万事皆可见证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学员践行：7 本手册 → 成为最稳定、能量最强的管理者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为什么看见美很重要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美的反义词不是丑，而是「审美冷淡」——对美视而不见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比幸福更重要的是「激活感知幸福的意识」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你并非没有能力，而是没有激活这种意识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AI 是过目不忘的模型；人类的共情力、创意力、审美最珍贵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面向未来 · 有趣×商业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2030 TOP 技能：科技/AI 前三，第 4 创新思维、第 5 韧性灵敏度、好奇心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保持好奇心，才能看见美、进入终身学习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有趣 × 商业：情绪消费是巨大赛道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麦当劳「猫窝套餐」：让困难的事变得有趣，比重要更推动改变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1887200" cy="5486400"/>
          </a:xfrm>
          <a:custGeom>
            <a:avLst/>
            <a:gdLst/>
            <a:ahLst/>
            <a:cxnLst/>
            <a:rect l="l" t="t" r="r" b="b"/>
            <a:pathLst>
              <a:path w="11887200" h="5486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3657600"/>
                </a:lnTo>
                <a:lnTo>
                  <a:pt x="64008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1887200" y="5486400"/>
                </a:lnTo>
                <a:lnTo>
                  <a:pt x="11887200" y="5486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914400"/>
            <a:ext cx="11887200" cy="4572000"/>
          </a:xfrm>
          <a:custGeom>
            <a:avLst/>
            <a:gdLst/>
            <a:ahLst/>
            <a:cxnLst/>
            <a:rect l="l" t="t" r="r" b="b"/>
            <a:pathLst>
              <a:path w="11887200" h="4572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1887200" y="4572000"/>
                </a:lnTo>
                <a:lnTo>
                  <a:pt x="11887200" y="45720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0" y="1828800"/>
            <a:ext cx="11887200" cy="3657600"/>
          </a:xfrm>
          <a:custGeom>
            <a:avLst/>
            <a:gdLst/>
            <a:ahLst/>
            <a:cxnLst/>
            <a:rect l="l" t="t" r="r" b="b"/>
            <a:pathLst>
              <a:path w="11887200" h="36576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8229600" y="27432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1887200" y="3657600"/>
                </a:lnTo>
                <a:lnTo>
                  <a:pt x="11887200" y="36576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1887200" h="1828800">
                <a:moveTo>
                  <a:pt x="0" y="914400"/>
                </a:move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1828800"/>
                </a:lnTo>
                <a:lnTo>
                  <a:pt x="9144000" y="1828800"/>
                </a:lnTo>
                <a:lnTo>
                  <a:pt x="10058400" y="1828800"/>
                </a:lnTo>
                <a:lnTo>
                  <a:pt x="100584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1887200" y="18288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108960" cy="1371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200400"/>
            <a:ext cx="1280160" cy="3657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3429000"/>
            <a:ext cx="877824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聚同伴 · 信任与传导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97680"/>
            <a:ext cx="877824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68394"/>
                </a:solidFill>
                <a:latin typeface="Microsoft YaHei"/>
                <a:ea typeface="Microsoft YaHei"/>
                <a:cs typeface="Microsoft YaHei"/>
              </a:rPr>
              <a:t>连接的韧性 · 信任公式 · 幸福五层 · 自利并利他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连接：韧性在人与人之间生长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22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孤独不是身边人多少的问题，而是「连接的质量」问题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被割裂的连接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19世纪英国监狱「跑步机刑具」：连续6小时无交流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人与人的连接被切断，心智就会受到损害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今天：电子产品常态化 → 回归线下面+面对面的必要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幸福感下降三机制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连接被替代（与 AI 时代兴起相关）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信任被削弱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→ 归属感缺失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三条锁链环环相扣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聚同伴 · 韧性传导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坦诚沟通、共享脆弱，是连接的基础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韧性传导：让团队的连接更紧密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线下交流、面对面协作正在变得更重要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41733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信任的来源：关心度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可信度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熟悉度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23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信任的本质：对彼此的缺点了如指掌之后，依然选择合作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关心度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00784"/>
            <a:ext cx="3685946" cy="21214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我在意你的处境与困难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关心度缺失 → 敷衍、打发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00784"/>
            <a:ext cx="3685946" cy="21214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有专业背景、讲求证据、说到做到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可信度缺失 → 建议错误、误用方法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熟悉度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00784"/>
            <a:ext cx="3685946" cy="21214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我了解你的优点与缺点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熟悉度缺失 → 建议不适用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977639"/>
            <a:ext cx="11057839" cy="402336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3977639"/>
            <a:ext cx="11057839" cy="40233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缺一角的信任折损（两两组合）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453127"/>
            <a:ext cx="11057839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4453127"/>
            <a:ext cx="10783519" cy="43891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缺熟悉度：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关心+可信，但彼此不熟悉 → 给你的东西不一定适用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928615"/>
            <a:ext cx="11057839" cy="43891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4928615"/>
            <a:ext cx="10783519" cy="43891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缺关心度：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可信+熟悉，但我不关心你 → 给到敷衍了事的建议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404103"/>
            <a:ext cx="11057839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5404103"/>
            <a:ext cx="10783519" cy="43891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缺可信度：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关心+熟悉，但没有可信度 → 常见于（亲子）用错方法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信任公式：量化你的信任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24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最重要的不是感觉，而是「信任 =（胜任力×可靠性×亲密度）÷ 自私度」——分母最致命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188720"/>
            <a:ext cx="11057839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11057839" cy="9601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信任  =  </a:t>
            </a:r>
            <a:r>
              <a:rPr sz="17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（ 胜任力 × 可靠性 × 亲密度 ）</a:t>
            </a:r>
            <a:r>
              <a:rPr sz="17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  ÷  自私度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869404"/>
              </p:ext>
            </p:extLst>
          </p:nvPr>
        </p:nvGraphicFramePr>
        <p:xfrm>
          <a:off x="566928" y="2423160"/>
          <a:ext cx="11064240" cy="2532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57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因子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赋值范围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胜任力（分子）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有能力完成当前工作：满格10，无能力1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可靠性（分子）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1–10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正向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靠谱、说到做到；满格10，全食言1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亲密度（分子）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1–10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极度了解10，完全不认识1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578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自私度（分母</a:t>
                      </a:r>
                      <a:r>
                        <a:rPr sz="1200" b="1" i="0" dirty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1–100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反向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自私度</a:t>
                      </a:r>
                      <a:r>
                        <a:rPr sz="1200" b="0" i="0" dirty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=1 </a:t>
                      </a:r>
                      <a:r>
                        <a:rPr sz="1200" b="0" i="0" dirty="0" err="1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无私（满分</a:t>
                      </a:r>
                      <a:r>
                        <a:rPr sz="1200" b="0" i="0" dirty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），=100 </a:t>
                      </a:r>
                      <a:r>
                        <a:rPr sz="1200" b="0" i="0" dirty="0" err="1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极度自私</a:t>
                      </a:r>
                      <a:endParaRPr sz="1200" b="0" i="0" dirty="0">
                        <a:solidFill>
                          <a:srgbClr val="33333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7" y="5020057"/>
            <a:ext cx="11057839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理论满分：10×10×10 ÷ 1 = 1000 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分（四因子全满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现实中员工互打分差异极大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sz="1250" b="0" i="0" dirty="0" err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常把「感觉」与「事实」混淆；要先锁定「在哪个情境、为哪件事」再打分</a:t>
            </a:r>
            <a:r>
              <a:rPr sz="1250" b="0" i="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 i="0" dirty="0" err="1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最重要的因子</a:t>
            </a: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sz="1250" b="1" i="0" dirty="0" err="1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分母自私度：一个人极度自私时，无法与任何人建立信任</a:t>
            </a:r>
            <a:r>
              <a:rPr sz="1250" b="1" i="0" dirty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幸福五层：自利并利他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25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幸福感越低层越和自己有关，越高层越和他人有关——帮助他人是最持久、最高层的幸福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207008"/>
            <a:ext cx="11057839" cy="80467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1207008"/>
            <a:ext cx="502920" cy="804672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07008"/>
            <a:ext cx="502920" cy="8046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5 层 · 最高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1207008"/>
            <a:ext cx="10234879" cy="8046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帮助他人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　最持久、最高层的幸福；利他并自利，越无私越幸福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093976"/>
            <a:ext cx="11057839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2093976"/>
            <a:ext cx="502920" cy="804672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2093976"/>
            <a:ext cx="502920" cy="8046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5" y="2093976"/>
            <a:ext cx="10234879" cy="8046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温暖而持久的亲密关系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　家庭、朋友、好同事、合作伙伴——大范畴的连接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980944"/>
            <a:ext cx="11057839" cy="80467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2980944"/>
            <a:ext cx="502920" cy="80467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2980944"/>
            <a:ext cx="502920" cy="8046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5" y="2980944"/>
            <a:ext cx="10234879" cy="8046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喜欢并擅长的事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　把热爱变成未来的关键元素，是长久幸福的起点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867912"/>
            <a:ext cx="11057839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867912"/>
            <a:ext cx="502920" cy="80467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867912"/>
            <a:ext cx="502920" cy="8046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3867912"/>
            <a:ext cx="10234879" cy="8046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成就感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　它与愉悦感受同属「即时满足」——一旦拥有立刻贬值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754880"/>
            <a:ext cx="11057839" cy="804672"/>
          </a:xfrm>
          <a:prstGeom prst="rect">
            <a:avLst/>
          </a:prstGeom>
          <a:solidFill>
            <a:srgbClr val="F5F7FA"/>
          </a:solidFill>
          <a:ln w="762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4754880"/>
            <a:ext cx="502920" cy="804672"/>
          </a:xfrm>
          <a:prstGeom prst="rect">
            <a:avLst/>
          </a:prstGeom>
          <a:solidFill>
            <a:srgbClr val="76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4754880"/>
            <a:ext cx="502920" cy="8046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5" y="4754880"/>
            <a:ext cx="10234879" cy="8046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愉悦的感受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　美食、见爱的人、跑步分泌多巴胺——即时、快速褪去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1887200" cy="5486400"/>
          </a:xfrm>
          <a:custGeom>
            <a:avLst/>
            <a:gdLst/>
            <a:ahLst/>
            <a:cxnLst/>
            <a:rect l="l" t="t" r="r" b="b"/>
            <a:pathLst>
              <a:path w="11887200" h="5486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3657600"/>
                </a:lnTo>
                <a:lnTo>
                  <a:pt x="64008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1887200" y="5486400"/>
                </a:lnTo>
                <a:lnTo>
                  <a:pt x="11887200" y="5486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914400"/>
            <a:ext cx="11887200" cy="4572000"/>
          </a:xfrm>
          <a:custGeom>
            <a:avLst/>
            <a:gdLst/>
            <a:ahLst/>
            <a:cxnLst/>
            <a:rect l="l" t="t" r="r" b="b"/>
            <a:pathLst>
              <a:path w="11887200" h="4572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1887200" y="4572000"/>
                </a:lnTo>
                <a:lnTo>
                  <a:pt x="11887200" y="45720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0" y="1828800"/>
            <a:ext cx="11887200" cy="3657600"/>
          </a:xfrm>
          <a:custGeom>
            <a:avLst/>
            <a:gdLst/>
            <a:ahLst/>
            <a:cxnLst/>
            <a:rect l="l" t="t" r="r" b="b"/>
            <a:pathLst>
              <a:path w="11887200" h="36576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8229600" y="27432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1887200" y="3657600"/>
                </a:lnTo>
                <a:lnTo>
                  <a:pt x="11887200" y="36576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1887200" h="1828800">
                <a:moveTo>
                  <a:pt x="0" y="914400"/>
                </a:move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1828800"/>
                </a:lnTo>
                <a:lnTo>
                  <a:pt x="9144000" y="1828800"/>
                </a:lnTo>
                <a:lnTo>
                  <a:pt x="10058400" y="1828800"/>
                </a:lnTo>
                <a:lnTo>
                  <a:pt x="100584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1887200" y="18288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108960" cy="1371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200400"/>
            <a:ext cx="1280160" cy="3657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3429000"/>
            <a:ext cx="877824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谋全局 · 组织韧性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97680"/>
            <a:ext cx="877824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68394"/>
                </a:solidFill>
                <a:latin typeface="Microsoft YaHei"/>
                <a:ea typeface="Microsoft YaHei"/>
                <a:cs typeface="Microsoft YaHei"/>
              </a:rPr>
              <a:t>三共原则 · 企业生命周期错配 · 五大人才共性问题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从个体到组织：三共原则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27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组织韧性的打造：觉察→共识、意义→共事、连接→共情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234440"/>
            <a:ext cx="5074920" cy="4754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谋全局 = 更高维度的认知与连接。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沙漠行走的指南针：只告诉你北在哪，却不预告有沼泽、危险、低谷。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评估环境、方向、路径、方法、行动，及其能带来的结果。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把心理韧性的「觉察·意义·连接」升维为组织韧性的「共识·共事·共情」。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8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8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高韧性领导者是一把手：既是文化打造者，也是文化助推者。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0" y="2606040"/>
            <a:ext cx="2011680" cy="2011680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组织韧性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三共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144000" y="1874520"/>
            <a:ext cx="0" cy="1737360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458200" y="1188720"/>
            <a:ext cx="1371600" cy="13716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共识
觉察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0" y="3611880"/>
            <a:ext cx="1504597" cy="868679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962797" y="3794759"/>
            <a:ext cx="1371600" cy="1371600"/>
          </a:xfrm>
          <a:prstGeom prst="ellipse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共事
意义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639402" y="3611880"/>
            <a:ext cx="1504598" cy="868679"/>
          </a:xfrm>
          <a:prstGeom prst="line">
            <a:avLst/>
          </a:prstGeom>
          <a:ln w="1270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953602" y="3794759"/>
            <a:ext cx="1371600" cy="137160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共情
连接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企业生命周期：成熟却不年轻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28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业绩在壮年期、发展却在青春期——双速错配，正是人才瓶颈与组织问题的根源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234440"/>
            <a:ext cx="2174991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1234440"/>
            <a:ext cx="2174991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幼年期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00" b="1" i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2815071" y="1600200"/>
            <a:ext cx="201168" cy="237744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33359" y="1234440"/>
            <a:ext cx="2174991" cy="896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33359" y="1234440"/>
            <a:ext cx="2174991" cy="89611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青春期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00" b="1" i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4990063" y="1600200"/>
            <a:ext cx="201168" cy="237744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08351" y="1234440"/>
            <a:ext cx="2174991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08351" y="1234440"/>
            <a:ext cx="2174991" cy="10972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成年期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00" b="1" i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165055" y="1600200"/>
            <a:ext cx="201168" cy="237744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183343" y="1234440"/>
            <a:ext cx="2174991" cy="13898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83343" y="1234440"/>
            <a:ext cx="2174991" cy="13898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壮年期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成熟业务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40047" y="1600200"/>
            <a:ext cx="201168" cy="237744"/>
          </a:xfrm>
          <a:prstGeom prst="rightArrow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358335" y="1234440"/>
            <a:ext cx="2174991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58335" y="1234440"/>
            <a:ext cx="2174991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衰退期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00" b="1" i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928" y="2788920"/>
            <a:ext cx="11057839" cy="2560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错配警示：</a:t>
            </a:r>
            <a:r>
              <a:rPr sz="13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很多企业「业绩水平」在壮年期（成熟得很），但「企业发展」却在青春期——人才发展遇到瓶颈。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当企业刚跨出青春期、进入中年期时，又撞上「互联网 + AI 的青春期」：不同区间的配速不同，问题就层出不穷。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研究覆盖：建筑业 · 零售业 · 智能制造业 · 畜牧业 · 医疗健康业 · 农业外贸 · 健康餐饮服务业（2018至今，100万+次访谈、600+小时分析）。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五大共性人才问题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总览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29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战略同频 / 企业文化 / 人才引入 / 高潜打造 / 梯队建设——背后都指向「谋全局」的缺口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1188720"/>
          <a:ext cx="11082528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8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共性问题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核心表现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关键反思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战略同频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战略只在一把手脑中，高管/下属理解衰减、断节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老板像火车头冲到山顶，团队还在半山腰、跟不上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企业文化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愿景使命价值观停在纸上，老板烙印过重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清晰的文化是韧性之源；价值观 &gt; 敬业度 &gt; 能力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人才引入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空降兵「平台效应」难复制、权责边界不清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高价值人才短缺；空降存活率是巨大挑战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 高潜打造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管培生体系不完善、一把手难真正放权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高潜培养应是一把手工程，而非仅 HR 的工作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⑤ 梯队建设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人才梯队未建立、知识经验隐性易断裂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一把手被迫全才；需萃取标准模块、师带徒传承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2442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战略同频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企业文化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30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战略要能「同频到高管」，文化要能「落到心里」——否则都是纸上谈兵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5528919" cy="475488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5528919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战略同频：该多少人知道？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19072"/>
            <a:ext cx="5528919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只在一把手脑中（多数情况）→ 高管也不清楚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理想的「高管团队同频」：理解战略背后的原理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员工反馈：老板像火车头冲上山顶，我们在半山腰跟不上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缺乏理解 → 战略分解与打法之间的连接断裂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现阶段多聚焦短期业绩，缺长期激励方案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1188720"/>
            <a:ext cx="5528919" cy="475488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5847" y="1188720"/>
            <a:ext cx="5528919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企业文化：从纸面到心里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1719072"/>
            <a:ext cx="5528919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愿景使命价值观 = 企业发展的底板、灵魂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价值观 &gt; 敬业度 &gt; 能力（大连企一把手语）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但多数企业文化停在纸面，无人能说清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文化清晰 → 提升意义感、归属感、自豪感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软性激励 + 员工关怀 + 95后（Z世代）公益共鸣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2442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人才引入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高潜打造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梯队建设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31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人才问题本质是一把手工程：引入要辨平台、高潜要放权、梯队要传承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人才引入 · 空降兵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能力与认知偏差：平台效应、光环效应难融合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业务定位不清晰，短期交付有挑战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「孔雀开屏」：正面漂亮，转身露屁股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要厘清权责边界：平台 vs 自身、引领 vs 鲶鱼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高潜打造 · 一把手工程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管培生体系不完善、培养跟不上步伐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「板凳深度」：核心骨干名单，持续跟踪动态调整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高潜名单与激励强挂钩 → 第二曲线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一把手不真放权 → 风筝/木偶、小兵被挪棋子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梯队建设 · 传承接续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00784"/>
            <a:ext cx="3685946" cy="41879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梯队未建立 → 一把手被迫全才、事必躬亲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核心知识隐性 → 关键人流失就断裂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做核心业务链梳理，把知识萃取成标准模块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16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师带徒（按徒弟业绩提成）→ 师傅愿倾囊相授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韧性领导力的三大误区</a:t>
            </a:r>
            <a:endParaRPr sz="2500" b="1" i="0" dirty="0">
              <a:solidFill>
                <a:srgbClr val="4454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32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拓心界失明、谋全局迷失、聚同伴断裂——都会让韧性领导力悬空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拓心界的失明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认知盲区：高管高估自己的判断率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拒绝倾听一线多元的、不同的声音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经验主义、路径依赖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看不到「未知的已知」，被人盯板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谋全局的迷失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用战术勤奋掩盖战略远见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过度被事务裹挟，用忙碌掩盖方向缺失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方向丧失、战略空洞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陷入组织内耗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聚同伴的断裂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情绪失衡、忽视情绪感染力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负面情绪蔓延到整个组织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越界管理：以关心为名的「过度负责」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手太长，压抑了团队主动性与私域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1887200" cy="5486400"/>
          </a:xfrm>
          <a:custGeom>
            <a:avLst/>
            <a:gdLst/>
            <a:ahLst/>
            <a:cxnLst/>
            <a:rect l="l" t="t" r="r" b="b"/>
            <a:pathLst>
              <a:path w="11887200" h="5486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3657600"/>
                </a:lnTo>
                <a:lnTo>
                  <a:pt x="64008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1887200" y="5486400"/>
                </a:lnTo>
                <a:lnTo>
                  <a:pt x="11887200" y="5486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914400"/>
            <a:ext cx="11887200" cy="4572000"/>
          </a:xfrm>
          <a:custGeom>
            <a:avLst/>
            <a:gdLst/>
            <a:ahLst/>
            <a:cxnLst/>
            <a:rect l="l" t="t" r="r" b="b"/>
            <a:pathLst>
              <a:path w="11887200" h="4572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1887200" y="4572000"/>
                </a:lnTo>
                <a:lnTo>
                  <a:pt x="11887200" y="45720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0" y="1828800"/>
            <a:ext cx="11887200" cy="3657600"/>
          </a:xfrm>
          <a:custGeom>
            <a:avLst/>
            <a:gdLst/>
            <a:ahLst/>
            <a:cxnLst/>
            <a:rect l="l" t="t" r="r" b="b"/>
            <a:pathLst>
              <a:path w="11887200" h="36576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8229600" y="27432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1887200" y="3657600"/>
                </a:lnTo>
                <a:lnTo>
                  <a:pt x="11887200" y="36576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1887200" h="1828800">
                <a:moveTo>
                  <a:pt x="0" y="914400"/>
                </a:move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1828800"/>
                </a:lnTo>
                <a:lnTo>
                  <a:pt x="9144000" y="1828800"/>
                </a:lnTo>
                <a:lnTo>
                  <a:pt x="10058400" y="1828800"/>
                </a:lnTo>
                <a:lnTo>
                  <a:pt x="100584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1887200" y="18288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3108960" cy="1371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200400"/>
            <a:ext cx="1280160" cy="36576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3429000"/>
            <a:ext cx="877824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落地篇 · 十大法则与三变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97680"/>
            <a:ext cx="877824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68394"/>
                </a:solidFill>
                <a:latin typeface="Microsoft YaHei"/>
                <a:ea typeface="Microsoft YaHei"/>
                <a:cs typeface="Microsoft YaHei"/>
              </a:rPr>
              <a:t>韧性领导力A-J · 遇变·预变·驭变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41732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韧性领导力十大法则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A–E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34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领导者最大的能力不是控制所有变量，而是变量失衡时、依然被团队坚定选择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1188720"/>
          <a:ext cx="11082528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8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法则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核心要点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管理者行动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认清事实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区分事实与想象，不粉饰问题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拒绝当焦虑的放大器与传导者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相信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相信相信的力量，信任团队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避免以悲观预期去微操控与揣测动机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给人确定感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直面问题、明确战略目标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为最差情境准备预案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追求持续发展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拒绝短视、保有上游思维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做好人才梯队的长期计算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 赋能 · 传导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为他人赋能，推动韧性传导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越在危机越要持续加大人才投入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2442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 err="1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韧性领导力十大法则</a:t>
            </a:r>
            <a:r>
              <a:rPr sz="2500" b="1" i="0" dirty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 F–J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35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从业务到利他、从放权到点燃——把韧性变成组织运转的常态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1188720"/>
          <a:ext cx="11082528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8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法则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核心要点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管理者行动</a:t>
                      </a:r>
                    </a:p>
                  </a:txBody>
                  <a:tcPr marL="82296" marR="82296" marT="27432" marB="27432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 支持业务线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鼓励全员议盈利与破局新方向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快速决策、快速示错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 Give · 利他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享受利他之乐，设身处地体恤员工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带头参与志愿服务与公益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 收放自如的掌控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摆脱看得见的「管理」，避免手太长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接纳弹性管理，给高潜独当一面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 点燃创造力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时代要清醒认知瓶颈与创新桎梏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最小行动单元、资源配置优化</a:t>
                      </a:r>
                    </a:p>
                  </a:txBody>
                  <a:tcPr marL="82296" marR="82296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 躬身入局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快速适应业务与管理趋势变化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亲自下一线，带团队共赴挑战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4572000"/>
            <a:ext cx="11887200" cy="914400"/>
          </a:xfrm>
          <a:custGeom>
            <a:avLst/>
            <a:gdLst/>
            <a:ahLst/>
            <a:cxnLst/>
            <a:rect l="l" t="t" r="r" b="b"/>
            <a:pathLst>
              <a:path w="11887200" h="914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91440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0584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0972800" y="914400"/>
                </a:lnTo>
                <a:lnTo>
                  <a:pt x="11887200" y="914400"/>
                </a:lnTo>
                <a:lnTo>
                  <a:pt x="11887200" y="914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5486400"/>
            <a:ext cx="11887200" cy="0"/>
          </a:xfrm>
          <a:custGeom>
            <a:avLst/>
            <a:gdLst/>
            <a:ahLst/>
            <a:cxnLst/>
            <a:rect l="l" t="t" r="r" b="b"/>
            <a:pathLst>
              <a:path w="118872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0584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0972800" y="0"/>
                </a:lnTo>
                <a:lnTo>
                  <a:pt x="118872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914400" y="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27432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36576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45720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54864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64008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73152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82296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  <a:lnTo>
                  <a:pt x="9144000" y="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411480"/>
            <a:ext cx="100584" cy="2560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4720" y="146304"/>
            <a:ext cx="9503359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遇变 · 预变 · 驭变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9975" y="411480"/>
            <a:ext cx="2011680" cy="3657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D9000F"/>
                </a:solidFill>
                <a:latin typeface="Microsoft YaHei"/>
                <a:ea typeface="Microsoft YaHei"/>
                <a:cs typeface="Microsoft YaHei"/>
              </a:rPr>
              <a:t>HI</a:t>
            </a:r>
            <a:r>
              <a:rPr sz="1500" b="1" i="1">
                <a:solidFill>
                  <a:srgbClr val="6E6E6E"/>
                </a:solidFill>
                <a:latin typeface="Microsoft YaHei"/>
                <a:ea typeface="Microsoft YaHei"/>
                <a:cs typeface="Microsoft YaHei"/>
              </a:rPr>
              <a:t>KROBOT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82512"/>
            <a:ext cx="11887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36 /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016752"/>
            <a:ext cx="11057839" cy="7132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6016752"/>
            <a:ext cx="50292" cy="713232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016752"/>
            <a:ext cx="10783519" cy="7132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无论身处于何种周期，都要在失控中保持内在的秩序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遇变 · 遇见变化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唯变不变：承认不确定性是默认模式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不预设某一具体「盼头」，守住长远信念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保持警觉，做第一个看见变化的人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solidFill>
            <a:srgbClr val="FF6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2874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预变 · 预测变化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2874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用周期思维替代线性推理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为最差情境界定预案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韧性而为：做好准备、预留冗余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8820" y="1188720"/>
            <a:ext cx="3685946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驭变 · 驾驭变化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8820" y="1719072"/>
            <a:ext cx="3685946" cy="41696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endParaRPr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乘势而上：把变化变成组织进化的动能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把新态度、新信念、新敏捷植入组织 DNA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20" b="1" i="0">
                <a:solidFill>
                  <a:srgbClr val="FF6A27"/>
                </a:solidFill>
                <a:latin typeface="Microsoft YaHei"/>
                <a:ea typeface="Microsoft YaHei"/>
                <a:cs typeface="Microsoft YaHei"/>
              </a:rPr>
              <a:t>● </a:t>
            </a:r>
            <a:r>
              <a:rPr sz="122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推动组织的快速迭代与发展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1887200" cy="5486400"/>
          </a:xfrm>
          <a:custGeom>
            <a:avLst/>
            <a:gdLst/>
            <a:ahLst/>
            <a:cxnLst/>
            <a:rect l="l" t="t" r="r" b="b"/>
            <a:pathLst>
              <a:path w="11887200" h="54864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2743200" y="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3657600"/>
                </a:lnTo>
                <a:lnTo>
                  <a:pt x="64008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82296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0972800" y="5486400"/>
                </a:lnTo>
                <a:lnTo>
                  <a:pt x="11887200" y="5486400"/>
                </a:lnTo>
                <a:lnTo>
                  <a:pt x="11887200" y="54864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914400"/>
            <a:ext cx="11887200" cy="4572000"/>
          </a:xfrm>
          <a:custGeom>
            <a:avLst/>
            <a:gdLst/>
            <a:ahLst/>
            <a:cxnLst/>
            <a:rect l="l" t="t" r="r" b="b"/>
            <a:pathLst>
              <a:path w="11887200" h="45720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73152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91440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0584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0972800" y="4572000"/>
                </a:lnTo>
                <a:lnTo>
                  <a:pt x="11887200" y="4572000"/>
                </a:lnTo>
                <a:lnTo>
                  <a:pt x="11887200" y="45720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0" y="1828800"/>
            <a:ext cx="11887200" cy="3657600"/>
          </a:xfrm>
          <a:custGeom>
            <a:avLst/>
            <a:gdLst/>
            <a:ahLst/>
            <a:cxnLst/>
            <a:rect l="l" t="t" r="r" b="b"/>
            <a:pathLst>
              <a:path w="11887200" h="365760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36576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4572000" y="1828800"/>
                </a:lnTo>
                <a:lnTo>
                  <a:pt x="5486400" y="1828800"/>
                </a:lnTo>
                <a:lnTo>
                  <a:pt x="5486400" y="1828800"/>
                </a:lnTo>
                <a:lnTo>
                  <a:pt x="5486400" y="2743200"/>
                </a:lnTo>
                <a:lnTo>
                  <a:pt x="54864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64008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7315200" y="2743200"/>
                </a:lnTo>
                <a:lnTo>
                  <a:pt x="8229600" y="27432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82296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91440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0584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0972800" y="3657600"/>
                </a:lnTo>
                <a:lnTo>
                  <a:pt x="11887200" y="3657600"/>
                </a:lnTo>
                <a:lnTo>
                  <a:pt x="11887200" y="36576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0" y="4572000"/>
            <a:ext cx="11887200" cy="1828800"/>
          </a:xfrm>
          <a:custGeom>
            <a:avLst/>
            <a:gdLst/>
            <a:ahLst/>
            <a:cxnLst/>
            <a:rect l="l" t="t" r="r" b="b"/>
            <a:pathLst>
              <a:path w="11887200" h="1828800">
                <a:moveTo>
                  <a:pt x="0" y="914400"/>
                </a:move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0" y="91440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18288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27432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36576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45720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54864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64008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73152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8229600" y="914400"/>
                </a:lnTo>
                <a:lnTo>
                  <a:pt x="9144000" y="914400"/>
                </a:lnTo>
                <a:lnTo>
                  <a:pt x="9144000" y="1828800"/>
                </a:lnTo>
                <a:lnTo>
                  <a:pt x="9144000" y="1828800"/>
                </a:lnTo>
                <a:lnTo>
                  <a:pt x="10058400" y="1828800"/>
                </a:lnTo>
                <a:lnTo>
                  <a:pt x="100584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0972800" y="1828800"/>
                </a:lnTo>
                <a:lnTo>
                  <a:pt x="11887200" y="1828800"/>
                </a:lnTo>
              </a:path>
            </a:pathLst>
          </a:custGeom>
          <a:noFill/>
          <a:ln w="11430">
            <a:solidFill>
              <a:srgbClr val="E8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95360" y="2286000"/>
            <a:ext cx="3108960" cy="3108960"/>
          </a:xfrm>
          <a:prstGeom prst="ellipse">
            <a:avLst/>
          </a:prstGeom>
          <a:noFill/>
          <a:ln w="2032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66960" y="3383280"/>
            <a:ext cx="2377440" cy="2377440"/>
          </a:xfrm>
          <a:prstGeom prst="ellipse">
            <a:avLst/>
          </a:prstGeom>
          <a:noFill/>
          <a:ln w="2032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0" y="1463040"/>
            <a:ext cx="2011680" cy="2011680"/>
          </a:xfrm>
          <a:prstGeom prst="ellipse">
            <a:avLst/>
          </a:prstGeom>
          <a:noFill/>
          <a:ln w="2032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" y="274320"/>
            <a:ext cx="1554480" cy="1554480"/>
          </a:xfrm>
          <a:prstGeom prst="ellipse">
            <a:avLst/>
          </a:prstGeom>
          <a:noFill/>
          <a:ln w="2032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-365760" y="822960"/>
            <a:ext cx="1828800" cy="1828800"/>
          </a:xfrm>
          <a:prstGeom prst="ellipse">
            <a:avLst/>
          </a:prstGeom>
          <a:noFill/>
          <a:ln w="20320">
            <a:solidFill>
              <a:srgbClr val="FF6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0" y="2286000"/>
            <a:ext cx="12191695" cy="12801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谢 谢!</a:t>
            </a:r>
          </a:p>
          <a:p>
            <a:pPr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768394"/>
                </a:solidFill>
                <a:latin typeface="Microsoft YaHei"/>
                <a:ea typeface="Microsoft YaHei"/>
                <a:cs typeface="Microsoft YaHei"/>
              </a:rPr>
              <a:t>让韧性成为一种持续存在的行动力，与您共勉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© 2016-2026 杭州海康机器人股份有限公司 · hikrobot@hikrobotics.com · www.hikrobotics.com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900" b="0" i="0">
                <a:solidFill>
                  <a:srgbClr val="B8C0C8"/>
                </a:solidFill>
                <a:latin typeface="Microsoft YaHei"/>
                <a:ea typeface="Microsoft YaHei"/>
                <a:cs typeface="Microsoft YaHei"/>
              </a:rPr>
              <a:t>本文档用于内部培训分享，内容整理自张晓萌《大变局与韧性领导力》公开课程。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384048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8C0C8"/>
                </a:solidFill>
                <a:latin typeface="Microsoft YaHei"/>
                <a:ea typeface="Microsoft YaHei"/>
                <a:cs typeface="Microsoft YaHei"/>
              </a:rPr>
              <a:t>法律声明：仅供内部参考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48495" y="5029200"/>
            <a:ext cx="1005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48495" y="6108192"/>
            <a:ext cx="10058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海康机器人官网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20095" y="5029200"/>
            <a:ext cx="1005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20095" y="6108192"/>
            <a:ext cx="10058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Microsoft YaHei"/>
                <a:ea typeface="Microsoft YaHei"/>
                <a:cs typeface="Microsoft YaHei"/>
              </a:rPr>
              <a:t>海康机器人微信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2634</Words>
  <Application>Microsoft Office PowerPoint</Application>
  <PresentationFormat>宽屏</PresentationFormat>
  <Paragraphs>636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牟帮强</cp:lastModifiedBy>
  <cp:revision>4</cp:revision>
  <dcterms:created xsi:type="dcterms:W3CDTF">2013-01-27T09:14:16Z</dcterms:created>
  <dcterms:modified xsi:type="dcterms:W3CDTF">2026-09-08T02:50:17Z</dcterms:modified>
  <cp:category/>
</cp:coreProperties>
</file>